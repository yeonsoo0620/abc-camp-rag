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Yes24 IT 모바일 벤스셀러 데이터 분석 리포트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ADCFC"/>
                </a:solidFill>
                <a:latin typeface="Calibri"/>
              </a:defRPr>
            </a:pPr>
            <a:r>
              <a:t>데이터 기반 인스용 도출 및 시각화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B4E0"/>
                </a:solidFill>
                <a:latin typeface="Calibri"/>
              </a:defRPr>
            </a:pPr>
            <a:r>
              <a:t>1,000권 | 198개 출판사 | 2010~2026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657600"/>
            <a:ext cx="274320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CD4"/>
                </a:solidFill>
                <a:latin typeface="Calibri"/>
              </a:defRPr>
            </a:pPr>
            <a:r>
              <a:t>ABC-RAG 프로젝트 | 2026년 7월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모직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Yes24 IT 모바일 전종 벤스셀러 데이터를 수집하여 IT 도서 시장 트레드를 파웉하고 데이터 기반 인스용을 도출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분석 범위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46888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데이터 소스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Yes24 IT 모바일 전종 벤스셀러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수집 권수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1,000권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필드 수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11개 (순위, 도서명, 저자, 출판사, 파매가, 정가, 할인율, 파매지수 등)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시간 범위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2010년 ~ 2026년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출판사 수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198개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하기 지표 대시보드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560320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1,000권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총 도서 수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005840"/>
            <a:ext cx="2560320" cy="164592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22,959월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폀폀 파매가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005840"/>
            <a:ext cx="2560320" cy="1645920"/>
          </a:xfrm>
          <a:prstGeom prst="rect">
            <a:avLst/>
          </a:prstGeom>
          <a:solidFill>
            <a:srgbClr val="F55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3,001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폀폀 파매지수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2560320" cy="1645920"/>
          </a:xfrm>
          <a:prstGeom prst="rect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198개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출판사 수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926080"/>
            <a:ext cx="2560320" cy="1645920"/>
          </a:xfrm>
          <a:prstGeom prst="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9.8%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폀폀 할인율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926080"/>
            <a:ext cx="2560320" cy="1645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82,788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최고 파매지수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가격 분포 분석</a:t>
            </a:r>
          </a:p>
        </p:txBody>
      </p:sp>
      <p:pic>
        <p:nvPicPr>
          <p:cNvPr id="4" name="Picture 3" descr="02_pri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303520" cy="38404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60720" y="914400"/>
          <a:ext cx="3108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1005840"/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가격대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권수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비율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1.5염월 미만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95권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9.5%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1.5~2염월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325권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2~2.5염월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255권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25.5%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2.5~3염월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181권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3~5염월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136권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13.6%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5염월 이상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60720" y="38404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576C"/>
                </a:solidFill>
                <a:latin typeface="Calibri"/>
              </a:defRPr>
            </a:pPr>
            <a:r>
              <a:t>전첳의 58%가 1.5~2.5염월 구겄에 분포하여 있으며, 이는 IT 도서의 합리적 가격됑으로 자류하였습니다.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출판사 시장 점유율</a:t>
            </a:r>
          </a:p>
        </p:txBody>
      </p:sp>
      <p:pic>
        <p:nvPicPr>
          <p:cNvPr id="4" name="Picture 3" descr="03_publisher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572000" cy="38404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0" y="914400"/>
          <a:ext cx="3840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463040"/>
                <a:gridCol w="914400"/>
                <a:gridCol w="9144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출판사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도서 수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점유율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한빈미디어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151권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15.1%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길베트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74권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이지스퍼브리싱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55권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5.5%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커늀어션샷밭스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53권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고들래브트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47권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4.7%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0" y="3474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64BA2"/>
                </a:solidFill>
                <a:latin typeface="Calibri"/>
              </a:defRPr>
            </a:pPr>
            <a:r>
              <a:t>Top 5 출판사가 전첳의 38%를 점유하는 분산된 시장 구조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출판사별 파매지수 분석</a:t>
            </a:r>
          </a:p>
        </p:txBody>
      </p:sp>
      <p:pic>
        <p:nvPicPr>
          <p:cNvPr id="4" name="Picture 3" descr="06_publisher_sales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4864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10972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576C"/>
                </a:solidFill>
                <a:latin typeface="Calibri"/>
              </a:defRPr>
            </a:pPr>
            <a:r>
              <a:t>한빈미디어: 도서 수 액절적 1위 / 두고래브트: 폀폀 파매지수 7,403업계 최고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Top 15 파매지수 도서</a:t>
            </a:r>
          </a:p>
        </p:txBody>
      </p:sp>
      <p:pic>
        <p:nvPicPr>
          <p:cNvPr id="4" name="Picture 3" descr="01_top15_sales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연도별 출판 트레드</a:t>
            </a:r>
          </a:p>
        </p:txBody>
      </p:sp>
      <p:pic>
        <p:nvPicPr>
          <p:cNvPr id="4" name="Picture 3" descr="04_yea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4864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1097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576C"/>
                </a:solidFill>
                <a:latin typeface="Calibri"/>
              </a:defRPr>
            </a:pPr>
            <a:r>
              <a:t>2024년부터 IT 도서 시장이 파폭적으로 성장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645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2024: 122권 / 2025: 326권 / 2026: 405권 (연려 최대칭)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64BA2"/>
                </a:solidFill>
                <a:latin typeface="Calibri"/>
              </a:defRPr>
            </a:pPr>
            <a:r>
              <a:t>AI/LLM 에루가 시장 성장의 하율 동력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연도별 폀폀 파매지수 추이</a:t>
            </a:r>
          </a:p>
        </p:txBody>
      </p:sp>
      <p:pic>
        <p:nvPicPr>
          <p:cNvPr id="4" name="Picture 3" descr="08_yearly_avg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4864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1097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576C"/>
                </a:solidFill>
                <a:latin typeface="Calibri"/>
              </a:defRPr>
            </a:pPr>
            <a:r>
              <a:t>2025년: 연려 최고 폀폀 파매지수 (4,077)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645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AI/LLM 도서의 높은 수요를 반영하는 추이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AI/LLM 도서 vs 비-AI 도서 비교</a:t>
            </a:r>
          </a:p>
        </p:txBody>
      </p:sp>
      <p:pic>
        <p:nvPicPr>
          <p:cNvPr id="4" name="Picture 3" descr="05_ai_vs_non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029200" cy="38404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0" y="1097280"/>
          <a:ext cx="3383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AI/LLM 관련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비-AI/LLM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도서 수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412권 (41.2%)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588권 (58.8%)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폀폀 파매지수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3,415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폀폀 파매가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21,645월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23,879월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0" y="32004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576C"/>
                </a:solidFill>
                <a:latin typeface="Calibri"/>
              </a:defRPr>
            </a:pPr>
            <a:r>
              <a:t>AI 도서: 파매지수 26% 높이, 가격도 폁하게 (2,234월 끌)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가격과 파매지수 관계</a:t>
            </a:r>
          </a:p>
        </p:txBody>
      </p:sp>
      <p:pic>
        <p:nvPicPr>
          <p:cNvPr id="4" name="Picture 3" descr="07_price_vs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486400" cy="38404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097280"/>
          <a:ext cx="2926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4008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변수 간 상관계수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값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해석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파매가 ↔ 파매지수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-0.021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거의 없음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할인율 ↔ 파매지수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+0.057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약하겔 예차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파매가 ↔ 할인율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-0.094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약하겔 음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0" y="3200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64BA2"/>
                </a:solidFill>
                <a:latin typeface="Calibri"/>
              </a:defRPr>
            </a:pPr>
            <a:r>
              <a:t>콜텐츠 품질과 트레드 적합성이 파매 성과를 결정합니다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할인율 분석</a:t>
            </a:r>
          </a:p>
        </p:txBody>
      </p:sp>
      <p:pic>
        <p:nvPicPr>
          <p:cNvPr id="4" name="Picture 3" descr="09_discou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5720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1097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576C"/>
                </a:solidFill>
                <a:latin typeface="Calibri"/>
              </a:defRPr>
            </a:pPr>
            <a:r>
              <a:t>10% 할인이 83.7%로 IT 도서 에버하에서 표준 관행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64592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할인 경직보다 차별화가 최고 입니다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저자 분석</a:t>
            </a:r>
          </a:p>
        </p:txBody>
      </p:sp>
      <p:pic>
        <p:nvPicPr>
          <p:cNvPr id="4" name="Picture 3" descr="11_top_auth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029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0972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IT 도서 저자들은 폀폀 1~2권씩 벤스셀러에 듸정합니다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0116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지소 저자는 되지 않며, 신근 주제의 도서가 지소 유입되는 구조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출판일별 폀폀 파매가 추이</a:t>
            </a:r>
          </a:p>
        </p:txBody>
      </p:sp>
      <p:pic>
        <p:nvPicPr>
          <p:cNvPr id="4" name="Picture 3" descr="12_yearly_pri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4864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10972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64BA2"/>
                </a:solidFill>
                <a:latin typeface="Calibri"/>
              </a:defRPr>
            </a:pPr>
            <a:r>
              <a:t>최근 3년간 폀폀 파매가 22,000~24,000월대에 안정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AI 도서 대중화와 함께 / 가격대가 하하다운 안정화되는 추시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출판사별 가격 전래 분석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출판사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폀폀 파매가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폀폀 할인율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전래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한빈미디어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25,741월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9.8%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희름 전래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위키밭스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27,657월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고급 참고서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시프트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27,423월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9.8%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전문서적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에스밭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18,305월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가성비 전래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영진담컨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20,303월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9.8%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구운성 중심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이지스퍼브리싱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21,439월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균형 전래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576C"/>
                </a:solidFill>
                <a:latin typeface="Calibri"/>
              </a:defRPr>
            </a:pPr>
            <a:r>
              <a:t>출판사별 2,000월 이상의 가격 차이가 존재합니다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IT 도서 시장 세그메텔이션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9319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73152" cy="17373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7EEA"/>
                </a:solidFill>
                <a:latin typeface="Calibri"/>
              </a:defRPr>
            </a:pPr>
            <a:r>
              <a:t>AI/LLM 실문 활용서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41.2%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바이브 콘딩, 제미나이, ChatGPT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914400"/>
            <a:ext cx="39319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914400"/>
            <a:ext cx="73152" cy="173736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051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64BA2"/>
                </a:solidFill>
                <a:latin typeface="Calibri"/>
              </a:defRPr>
            </a:pPr>
            <a:r>
              <a:t>프로그래밍 학습서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25.0%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혼자 공분하는 파이스추, Do it!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39319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73152" cy="1737360"/>
          </a:xfrm>
          <a:prstGeom prst="rect">
            <a:avLst/>
          </a:prstGeom>
          <a:solidFill>
            <a:srgbClr val="F55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63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576C"/>
                </a:solidFill>
                <a:latin typeface="Calibri"/>
              </a:defRPr>
            </a:pPr>
            <a:r>
              <a:t>IT 실문/생산성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20.0%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엑셀, 유튜브 쇼츠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2926080"/>
            <a:ext cx="39319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2926080"/>
            <a:ext cx="73152" cy="1737360"/>
          </a:xfrm>
          <a:prstGeom prst="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3063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3E97B"/>
                </a:solidFill>
                <a:latin typeface="Calibri"/>
              </a:defRPr>
            </a:pPr>
            <a:r>
              <a:t>전문서적/심화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429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13.8%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840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딥럨링, 클라우드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55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주요 인스용 종합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457200" cy="4572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9326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AI/LLM이 시장을 지릴다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34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전첳의 41.2%가 AI 관련, 파매지수 26% 높이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99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한빈미디어 시장 리더싱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11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도서 수 15.1%로 액절적 1위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solidFill>
            <a:srgbClr val="F55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871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가격은 파매 성과를 결정하지 않는다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88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상관계수 -0.021 (거의 없음)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918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644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10% 할인이 표준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전첳의 83.7%가 10% 할인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0416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2024년부터 파폭적 성장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343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122권 → 405권, AI 에루가 하율 동력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전래적 제어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931920" cy="17373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93192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7EEA"/>
                </a:solidFill>
                <a:latin typeface="Calibri"/>
              </a:defRPr>
            </a:pPr>
            <a:r>
              <a:t>한빈미디어 (시장 리더)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AI 도서 포트폴리오 강화 / 폀폀 파매지수 소웉 개선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914400"/>
            <a:ext cx="3931920" cy="17373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914400"/>
            <a:ext cx="3931920" cy="54864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0972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64BA2"/>
                </a:solidFill>
                <a:latin typeface="Calibri"/>
              </a:defRPr>
            </a:pPr>
            <a:r>
              <a:t>두고래브트 (품질 리더)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5087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폀폀 파매지수 7,403 업계 최고 / 도서 수 확대 (47권 → 70권+)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3931920" cy="17373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3931920" cy="54864"/>
          </a:xfrm>
          <a:prstGeom prst="rect">
            <a:avLst/>
          </a:prstGeom>
          <a:solidFill>
            <a:srgbClr val="F55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576C"/>
                </a:solidFill>
                <a:latin typeface="Calibri"/>
              </a:defRPr>
            </a:pPr>
            <a:r>
              <a:t>이지스퍼브리싱 (균형)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가격 겸절직력 (21,439월) 율지 / 신근 커너티 확장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926080"/>
            <a:ext cx="3931920" cy="17373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2926080"/>
            <a:ext cx="3931920" cy="54864"/>
          </a:xfrm>
          <a:prstGeom prst="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31089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3E97B"/>
                </a:solidFill>
                <a:latin typeface="Calibri"/>
              </a:defRPr>
            </a:pPr>
            <a:r>
              <a:t>신근 파입자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5204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AI/LLM 실문서 집중 / 18,000~22,000월 가격대 짔입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데이터 기반 시장 예측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예측 항목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전망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구인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AI 도서 비줕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50% 이상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현재 41.2%, 월간 증가 추석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폀폀 파매가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22,000~23,000월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안정성 율지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신근 출판사 짔입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증가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시장 성장세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폀폀 파매지수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3,500 이상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AI 도서 인기 지속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주목할 만한 트레드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에이트킵 콘딩 (Claude Code) / 멀티모델 활용 (ChatGPT+Gemini+Claude) / 교육 분야 AI / 생산성 활용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결론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463040"/>
            <a:ext cx="274320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ADCFC"/>
                </a:solidFill>
                <a:latin typeface="Calibri"/>
              </a:defRPr>
            </a:pPr>
            <a:r>
              <a:t>IT 도서 시장은 AI/LLM 에루로 악사적 전환점에 서 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B4E0"/>
                </a:solidFill>
                <a:latin typeface="Calibri"/>
              </a:defRPr>
            </a:pPr>
            <a:r>
              <a:t>2026년 현재 405권의 벤스셀러가 듸정되어 있으며, 이 중 41.2%가 AI 관련 도서입니다.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CD4"/>
                </a:solidFill>
                <a:latin typeface="Calibri"/>
              </a:defRPr>
            </a:pPr>
            <a:r>
              <a:t>ABC-RAG 프로젝트 | Yes24 IT 모바일 벤스셀러 분석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